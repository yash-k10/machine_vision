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COMPUTER VISION PROJECT ARCHITECTURE</a:t>
            </a:r>
          </a:p>
          <a:p>
            <a:pPr>
              <a:spcAft>
                <a:spcPts val="1000"/>
              </a:spcAft>
              <a:defRPr sz="3600" b="1">
                <a:solidFill>
                  <a:srgbClr val="0F172A"/>
                </a:solidFill>
                <a:latin typeface="Arial"/>
              </a:defRPr>
            </a:pPr>
            <a:r>
              <a:t>Optical Flow Motion Analyzer</a:t>
            </a:r>
          </a:p>
          <a:p>
            <a:pPr>
              <a:spcAft>
                <a:spcPts val="2800"/>
              </a:spcAft>
              <a:defRPr sz="1800">
                <a:solidFill>
                  <a:srgbClr val="475569"/>
                </a:solidFill>
                <a:latin typeface="Arial"/>
              </a:defRPr>
            </a:pPr>
            <a:r>
              <a:t>System Workflow Chart, Algorithm Mechanics &amp; Real-Time Pipeline Architecture</a:t>
            </a:r>
          </a:p>
          <a:p>
            <a:pPr>
              <a:defRPr sz="1200" b="1">
                <a:solidFill>
                  <a:srgbClr val="64748B"/>
                </a:solidFill>
                <a:latin typeface="Arial"/>
              </a:defRPr>
            </a:pPr>
            <a:r>
              <a:t>TAE1 Machine Vision  |  OpenCV 4.x  |  PyQt5  |  Lucas-Kanade  |  Farnebäck  |  Heatmap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OPTICAL FLOW MOTION ANALYZER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High-Level Dataflow &amp; System 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920240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737360" cy="457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645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Video Source</a:t>
            </a:r>
          </a:p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• Live Webcam (0)</a:t>
            </a:r>
            <a:br/>
            <a:r>
              <a:t>• MP4 / AVI File</a:t>
            </a:r>
            <a:br/>
            <a:r>
              <a:t>• QTimer Sync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97480" y="3474720"/>
            <a:ext cx="18288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1920240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0" y="1737360"/>
            <a:ext cx="1737360" cy="45720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PREPROCESS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286000"/>
            <a:ext cx="1645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Frame Buffer</a:t>
            </a:r>
          </a:p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• BGR → Gray</a:t>
            </a:r>
            <a:br/>
            <a:r>
              <a:t>• Gaussian Blur</a:t>
            </a:r>
            <a:br/>
            <a:r>
              <a:t>• Prev/Curr Buffer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92040" y="3474720"/>
            <a:ext cx="18288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0640" y="1645920"/>
            <a:ext cx="1920240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80" y="1737360"/>
            <a:ext cx="17373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286000"/>
            <a:ext cx="1645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Optical Flow</a:t>
            </a:r>
          </a:p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• Lucas-Kanade</a:t>
            </a:r>
            <a:br/>
            <a:r>
              <a:t>• Farnebäck Dense</a:t>
            </a:r>
            <a:br/>
            <a:r>
              <a:t>• Motion Heatmap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86600" y="3474720"/>
            <a:ext cx="18288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1645920"/>
            <a:ext cx="1920240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06640" y="1737360"/>
            <a:ext cx="173736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286000"/>
            <a:ext cx="1645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Metrics Calculation</a:t>
            </a:r>
          </a:p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• Mean/Max Speed</a:t>
            </a:r>
            <a:br/>
            <a:r>
              <a:t>• Area Coverage %</a:t>
            </a:r>
            <a:br/>
            <a:r>
              <a:t>• Polar Direction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281160" y="3474720"/>
            <a:ext cx="18288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09760" y="1645920"/>
            <a:ext cx="1920240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1737360"/>
            <a:ext cx="173736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GUI &amp;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286000"/>
            <a:ext cx="1645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Canvas &amp; Tuning</a:t>
            </a:r>
          </a:p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• Qt Pixmap Render</a:t>
            </a:r>
            <a:br/>
            <a:r>
              <a:t>• Live Sliders</a:t>
            </a:r>
            <a:br/>
            <a:r>
              <a:t>• PNG Exporter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943600"/>
            <a:ext cx="10728655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🔄 Real-time Parameter Tuning &amp; Signal Feedback Loop: GUI Sliders ➔ Engine Parameters ➔ Live Canvas Re-render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CORE MODULES: VIDEO_SOURCE.PY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Stage 1 &amp; 2: Ingestion &amp; Preprocessing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59669"/>
                </a:solidFill>
              </a:defRPr>
            </a:pPr>
            <a:r>
              <a:t>1. Video Ingestion Layer (core/video_source.py)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Dual Stream Abstraction: </a:t>
            </a:r>
            <a:r>
              <a:rPr b="0" sz="1100">
                <a:solidFill>
                  <a:srgbClr val="475569"/>
                </a:solidFill>
              </a:rPr>
              <a:t>Supports seamless switching between live USB webcam (device 0) and video files (.mp4, .avi, .mkv, .mov).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OpenCV Integration: </a:t>
            </a:r>
            <a:r>
              <a:rPr b="0" sz="1100">
                <a:solidFill>
                  <a:srgbClr val="475569"/>
                </a:solidFill>
              </a:rPr>
              <a:t>Wraps cv2.VideoCapture to safely manage frame reading, stream closing, and error handling.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FPS Synchronized Timer: </a:t>
            </a:r>
            <a:r>
              <a:rPr b="0" sz="1100">
                <a:solidFill>
                  <a:srgbClr val="475569"/>
                </a:solidFill>
              </a:rPr>
              <a:t>Uses PyQt5 QTimer matching source native FPS (interval = 1000 / FPS ms) for smooth frame pacing.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Loop &amp; Seek Control: </a:t>
            </a:r>
            <a:r>
              <a:rPr b="0" sz="1100">
                <a:solidFill>
                  <a:srgbClr val="475569"/>
                </a:solidFill>
              </a:rPr>
              <a:t>Automatically rewinds to frame 0 upon video completion for uninterrupted looping playback.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463040"/>
            <a:ext cx="5120640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22415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891B2"/>
                </a:solidFill>
              </a:defRPr>
            </a:pPr>
            <a:r>
              <a:t>2. Frame Preprocessing &amp; Buffer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Color Space Conversion: </a:t>
            </a:r>
            <a:r>
              <a:rPr b="0" sz="1100">
                <a:solidFill>
                  <a:srgbClr val="475569"/>
                </a:solidFill>
              </a:rPr>
              <a:t>Converts 3-channel BGR NumPy matrices into 1-channel Grayscale via cv2.cvtColor(BGR2GRAY).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Gaussian Noise Reduction: </a:t>
            </a:r>
            <a:r>
              <a:rPr b="0" sz="1100">
                <a:solidFill>
                  <a:srgbClr val="475569"/>
                </a:solidFill>
              </a:rPr>
              <a:t>Applies 5x5 Gaussian Kernel blur filtering to remove sensor noise before derivative calculations.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Temporal Buffer Memory: </a:t>
            </a:r>
            <a:r>
              <a:rPr b="0" sz="1100">
                <a:solidFill>
                  <a:srgbClr val="475569"/>
                </a:solidFill>
              </a:rPr>
              <a:t>Stores previous frame matrix (_prev_gray) to enable consecutive frame matrix differencing.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Resolution Normalization: </a:t>
            </a:r>
            <a:r>
              <a:rPr b="0" sz="1100">
                <a:solidFill>
                  <a:srgbClr val="475569"/>
                </a:solidFill>
              </a:rPr>
              <a:t>Extracts image height, width, and aspect ratio for dynamic overlay bounds calculation.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THE 3 OPTICAL FLOW ALGORITHM MODES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Stage 3: Core Optical Flow Processing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32073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305775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LUCAS-KANADE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Sparse Optical Flow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Feature Detector: </a:t>
            </a:r>
            <a:r>
              <a:rPr b="0" sz="1000">
                <a:solidFill>
                  <a:srgbClr val="475569"/>
                </a:solidFill>
              </a:rPr>
              <a:t>Shi-Tomasi corner detection (cv2.goodFeaturesToTrack).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Pyramidal Flow: </a:t>
            </a:r>
            <a:r>
              <a:rPr b="0" sz="1000">
                <a:solidFill>
                  <a:srgbClr val="475569"/>
                </a:solidFill>
              </a:rPr>
              <a:t>Tracks displacements using cv2.calcOpticalFlowPyrLK.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Rolling Trails: </a:t>
            </a:r>
            <a:r>
              <a:rPr b="0" sz="1000">
                <a:solidFill>
                  <a:srgbClr val="475569"/>
                </a:solidFill>
              </a:rPr>
              <a:t>Maintains up to 25 historical trajectory points per feature.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Auto Replenish: </a:t>
            </a:r>
            <a:r>
              <a:rPr b="0" sz="1000">
                <a:solidFill>
                  <a:srgbClr val="475569"/>
                </a:solidFill>
              </a:rPr>
              <a:t>Re-detects features when active points drop below 30.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9353" y="1463040"/>
            <a:ext cx="3332073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66513" y="1645920"/>
            <a:ext cx="305775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FARNEBÄCK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Dense Per-Pixel Flow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Polynomial Expansion: </a:t>
            </a:r>
            <a:r>
              <a:rPr b="0" sz="1000">
                <a:solidFill>
                  <a:srgbClr val="475569"/>
                </a:solidFill>
              </a:rPr>
              <a:t>Computes (dx, dy) motion vector matrix for every single pixel.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Polar Conversion: </a:t>
            </a:r>
            <a:r>
              <a:rPr b="0" sz="1000">
                <a:solidFill>
                  <a:srgbClr val="475569"/>
                </a:solidFill>
              </a:rPr>
              <a:t>Converts vectors to magnitude and angle (cv2.cartToPolar).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HSV Encoding: </a:t>
            </a:r>
            <a:r>
              <a:rPr b="0" sz="1000">
                <a:solidFill>
                  <a:srgbClr val="475569"/>
                </a:solidFill>
              </a:rPr>
              <a:t>Hue = Motion Angle, Brightness = Motion Velocity Magnitude.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Arrow Grid Overlay: </a:t>
            </a:r>
            <a:r>
              <a:rPr b="0" sz="1000">
                <a:solidFill>
                  <a:srgbClr val="475569"/>
                </a:solidFill>
              </a:rPr>
              <a:t>Renders direction arrows on configurable pixel grid (16px).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7186" y="1463040"/>
            <a:ext cx="3332073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64346" y="1645920"/>
            <a:ext cx="305775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HEATMAP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</a:defRPr>
            </a:pPr>
            <a:r>
              <a:t>Cumulative Motion Heat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Frame Difference: </a:t>
            </a:r>
            <a:r>
              <a:rPr b="0" sz="1000">
                <a:solidFill>
                  <a:srgbClr val="475569"/>
                </a:solidFill>
              </a:rPr>
              <a:t>Calculates absolute frame intensity delta |I(t) - I(t-1)|.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Temporal Decay: </a:t>
            </a:r>
            <a:r>
              <a:rPr b="0" sz="1000">
                <a:solidFill>
                  <a:srgbClr val="475569"/>
                </a:solidFill>
              </a:rPr>
              <a:t>Accumulates heat with exponential decay: Acc = Acc * 0.95 + Diff.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Noise Threshold: </a:t>
            </a:r>
            <a:r>
              <a:rPr b="0" sz="1000">
                <a:solidFill>
                  <a:srgbClr val="475569"/>
                </a:solidFill>
              </a:rPr>
              <a:t>Suppresses background flicker below pixel threshold (15).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False Colormap: </a:t>
            </a:r>
            <a:r>
              <a:rPr b="0" sz="1000">
                <a:solidFill>
                  <a:srgbClr val="475569"/>
                </a:solidFill>
              </a:rPr>
              <a:t>Maps heat to INFERNO, JET, HOT, TURBO, or VIRIDIS spectrums.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PARALLEL ANALYSIS: CORE/MOTION_DETECTOR.PY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Auxiliary Subsystem: MOG2 Motion Object Detector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E11D48"/>
                </a:solidFill>
              </a:defRPr>
            </a:pPr>
            <a:r>
              <a:t>Background Subtraction &amp; Object Centroid Tracking Pipeline</a:t>
            </a:r>
          </a:p>
          <a:p>
            <a:pPr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• MOG2 Background Subtraction: </a:t>
            </a:r>
            <a:r>
              <a:rPr b="0" sz="1200">
                <a:solidFill>
                  <a:srgbClr val="475569"/>
                </a:solidFill>
              </a:rPr>
              <a:t>Uses Mixture of Gaussians (cv2.createBackgroundSubtractorMOG2) with history=300 and shadow suppression (shadow pixels set to 0).</a:t>
            </a:r>
          </a:p>
          <a:p>
            <a:pPr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• Morphological Mask Cleanup: </a:t>
            </a:r>
            <a:r>
              <a:rPr b="0" sz="1200">
                <a:solidFill>
                  <a:srgbClr val="475569"/>
                </a:solidFill>
              </a:rPr>
              <a:t>Executes Morphological Opening (remove noise), Closing (fill holes), and Dilation (join fragmented contours) using 5x5 ellipse kernel.</a:t>
            </a:r>
          </a:p>
          <a:p>
            <a:pPr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• Contour Detection &amp; Filtering: </a:t>
            </a:r>
            <a:r>
              <a:rPr b="0" sz="1200">
                <a:solidFill>
                  <a:srgbClr val="475569"/>
                </a:solidFill>
              </a:rPr>
              <a:t>Extracts object contours (cv2.findContours) and filters out noise blobs smaller than min_area (default 800 px²).</a:t>
            </a:r>
          </a:p>
          <a:p>
            <a:pPr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• Centroid Speed &amp; Direction: </a:t>
            </a:r>
            <a:r>
              <a:rPr b="0" sz="1200">
                <a:solidFill>
                  <a:srgbClr val="475569"/>
                </a:solidFill>
              </a:rPr>
              <a:t>Calculates centroid displacements between frames to measure object speed (px/frame) and 360° motion angle.</a:t>
            </a:r>
          </a:p>
          <a:p>
            <a:pPr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• Cardinal Arrow Annotations: </a:t>
            </a:r>
            <a:r>
              <a:rPr b="0" sz="1200">
                <a:solidFill>
                  <a:srgbClr val="475569"/>
                </a:solidFill>
              </a:rPr>
              <a:t>Maps motion angle to 8 cardinal directions (↗, ↑, ↖, ←, ↙, ↓, ↘, →) and renders HUD bounding boxes with motion trails.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ANALYTICS &amp; USER INTERFACE LAYER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Stage 4 &amp; 5: Analytics Engine &amp; PyQt5 GUI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2563EB"/>
                </a:solidFill>
              </a:defRPr>
            </a:pPr>
            <a:r>
              <a:t>4. Motion Analytics (motion_stats.py)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Average Speed Magnitude: </a:t>
            </a:r>
            <a:r>
              <a:rPr b="0" sz="1100">
                <a:solidFill>
                  <a:srgbClr val="475569"/>
                </a:solidFill>
              </a:rPr>
              <a:t>Calculates arithmetic mean velocity across all active motion vectors.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Maximum Speed: </a:t>
            </a:r>
            <a:r>
              <a:rPr b="0" sz="1100">
                <a:solidFill>
                  <a:srgbClr val="475569"/>
                </a:solidFill>
              </a:rPr>
              <a:t>Tracks peak velocity magnitude in current frame.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Active Area Percentage: </a:t>
            </a:r>
            <a:r>
              <a:rPr b="0" sz="1100">
                <a:solidFill>
                  <a:srgbClr val="475569"/>
                </a:solidFill>
              </a:rPr>
              <a:t>Percentage of total frame area containing active motion (magnitude &gt; threshold).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8-Bin Polar Histogram: </a:t>
            </a:r>
            <a:r>
              <a:rPr b="0" sz="1100">
                <a:solidFill>
                  <a:srgbClr val="475569"/>
                </a:solidFill>
              </a:rPr>
              <a:t>Divides 360° into 8 octants to compute angular distribution of flow vectors.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463040"/>
            <a:ext cx="5120640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22415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5. PyQt5 GUI &amp; Canvas (gui/)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BGR to Qt Pixmap Conversion: </a:t>
            </a:r>
            <a:r>
              <a:rPr b="0" sz="1100">
                <a:solidFill>
                  <a:srgbClr val="475569"/>
                </a:solidFill>
              </a:rPr>
              <a:t>Converts OpenCV NumPy matrices into QImage &amp; QPixmap for hardware-accelerated rendering.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Video Canvas Display: </a:t>
            </a:r>
            <a:r>
              <a:rPr b="0" sz="1100">
                <a:solidFill>
                  <a:srgbClr val="475569"/>
                </a:solidFill>
              </a:rPr>
              <a:t>Renders scaled output frames with top-left HUD overlay (FPS, Mode, Object Count).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Live Parameter Tuning: </a:t>
            </a:r>
            <a:r>
              <a:rPr b="0" sz="1100">
                <a:solidFill>
                  <a:srgbClr val="475569"/>
                </a:solidFill>
              </a:rPr>
              <a:t>PyQt Sliders bind real-time parameters (LK window size, Farnebäck scale, Heatmap decay).</a:t>
            </a:r>
          </a:p>
          <a:p>
            <a:pPr>
              <a:spcAft>
                <a:spcPts val="800"/>
              </a:spcAft>
              <a:defRPr b="1" sz="1200">
                <a:solidFill>
                  <a:srgbClr val="0F172A"/>
                </a:solidFill>
              </a:defRPr>
            </a:pPr>
            <a:r>
              <a:t>• Screenshot &amp; Export: </a:t>
            </a:r>
            <a:r>
              <a:rPr b="0" sz="1100">
                <a:solidFill>
                  <a:srgbClr val="475569"/>
                </a:solidFill>
              </a:rPr>
              <a:t>One-click save action captures current processed frame directly to PNG image 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TECHNICAL REFERENCE SPECIFICATION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Parameter Signal Routing &amp; GUI Slider Mapping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194560"/>
                <a:gridCol w="1828800"/>
                <a:gridCol w="2864815"/>
              </a:tblGrid>
              <a:tr h="5943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GUI Widget / Slider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Target 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Algorithmic Impact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Lucas-Kanade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Window Size Slider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LucasKanadeTracker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winSize (N,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Neighborhood integration window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Lucas-Kanade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Max Corners Slider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LucasKanadeTracker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maxCorners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Cap on Shi-Tomasi feature points count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Farnebäck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Pyramid Scale Slider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FarnebackAnalyzer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pyr_scale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Multi-resolution pyramid scale 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Farnebäck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Arrow Step Grid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FarnebackAnalyzer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arrow_step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Pixel grid interval between vector arrows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Heatmap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Decay Rate Slider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MotionHeatmap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decay (0.80–0.99)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Persistence decay speed of motion trails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Heatmap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Colormap Combo Box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MotionHeatmap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colormap_name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False-color spectrum (INFERNO, JET, etc.)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Object Detector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Min Contour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MotionDetector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min_area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Noise suppression threshold (default 800px²)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